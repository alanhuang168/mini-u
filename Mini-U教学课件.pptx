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同学们好。今天我们不讲空洞的理论，而是拆解一个真实的、已经上线的 AI 项目——它能输入一个股票代码，自动生成一份 AI 分析报告。学完这节课，你会明白：所谓「AI 应用」，到底是由哪些零件拼起来的。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这节课的目标不是让你马上会写代码，而是建立「AI 应用是怎么搭起来的」整体认知。我会用大量生活化的比喻，遇到专业词我都会翻译成人话。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先给大家看看最终效果。你只要输入一个股票代码，点一下按钮，系统就自动帮你采集数据、算分、写分析、请4位风格不同的大师点评，最后生成一份网页报告。这就是我们要拆解的目标。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开始前先扫清三个术语。大模型就是像 ChatGPT 那样会写字的 AI，可以想象成一个很博学但需要你给指令的实习生。API 是程序之间互相调用的接口。API Key 是调用时的密码，而且是要花钱的——这点后面会专门讲一个真实的安全事故。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整节课最重要的思想。做复杂的事情，不要想着一步登天，而要拆成一个个简单的小步骤，像流水线一样串起来。做菜要买菜切菜炒菜装盘，我们的程序就是采集数据、AI分析、生成报告。每一步单独简单，串起来就完成了复杂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个系统像一栋楼，分成几层。最上面是用户看到的网页界面，中间是各种功能，再下面是干活的流水线，最底下是数据源和AI这些基础设施。分层的最大好处是互不干扰——我想换个好看的界面，完全不用碰下面算分析的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水线第一步，采集数据。程序自动去网上抓股价、涨跌，然后用一套规则打分。股价高就加分、上涨就加分。关键是——这些规则不是写死在代码里，而是放在一个人人能读懂的配置文件里，改分数不用懂编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有同学会问，都有AI了为什么还要写规则？因为AI有两个毛病：一是不擅长精确算数，二是会幻觉——一本正经地编造。而规则引擎算得准、能解释清楚为什么打这个分。所以我们让它们分工。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句话请大家记下来，它是做AI应用的黄金法则：让规则引擎做数学题，让大模型做作文题。精确的、不能出错的部分交给代码；需要灵活表达、写得好看的部分交给AI。这样既发挥了AI的长处，又避开了它的短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步，把数据和分数交给大模型DeepSeek。我们给它一段指令，告诉它你是分析师、这是数据、请写一份分析。这段指令有个专业名字叫Prompt，也就是提示词。同样的数据，Prompt写得好不好，AI输出的质量天差地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写提示词有个诀窍：越具体越好。你不能只说帮我分析一下，那AI会天马行空。你要告诉它结构、字数、评级选项。把要求框得越清楚，AI的输出就越稳定可控。这个技巧大家平时用ChatGPT也能马上用上。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步很有意思。同一只股票，我们让AI分别扮演巴菲特、赵老哥这些风格迥异的投资大师来点评，得到多个视角。每个大师就是一张人设卡，是个几行的小文件。你想加新大师，只要复制一张卡改改内容，完全不用碰程序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用AI是要花钱的，而且要等待。如果同一只股票几分钟内被问了十次，每次都真去问AI，就是白白烧钱。所以我们加了缓存——像个小本本，问过的答案先记下来，下次直接念。但缓存有保质期，因为股价会变，太旧的答案就不能用了，我们设的是6小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讲最宝贵的部分——真实踩过的坑。这个项目上线后发现：用户A输入了自己的付费密码，结果用户B打开网页居然也能用，等于花A的钱。这是很严重的安全事故。原因是程序把密码存到了所有人共享的区域。修复方法是给每个用户一个独立的小房间，互相隔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这个事故的教训是：密码这类敏感信息，绝不能存在大家共享的地方。就像你不会把银行卡密码贴在公司公告栏上。做任何多用户的网站，都要养成习惯问自己：我存的这个东西，别的用户会不会看到？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坑更玄乎。同样的代码，服务器上正常，命令行正常，就是网页一跑就崩溃。核心方法是对比找不同、单独拎出来测。我们发现区别在运行方式，最后定位到一个底层组件在特定环境下不兼容。解决办法是加了个演示模式开关绕过它。这个排查思路你以后遇到任何bug都用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坑的教训，也是程序员那句经典甩锅——在我电脑上好好的呀。同样代码换个环境就出问题太常见了，因为操作系统、软件版本、运行方式都可能不一样。遇到bug不要慌，冷静地对比环境差异，一步步缩小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还有两个小疏忽。一个是忘了声明依赖——程序要用某个工具包却没写进清单，换台电脑就找不到。教训是程序需要什么必须白纸黑字列清楚。另一个是不小心把几百MB临时文件传到了代码仓库。教训是临时文件和密钥文件不该进仓库，要提前写进黑名单。这些都是新手最常犯的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把整个流程串一遍。你输入600519，第一步采集数据打分得65分，第二步交给AI写分析，第三步请4位大师点评，第四步拼成网页报告并保存。注意数据的形态变化：从数字，变成文字，最后变成网页。你以后看到的绝大多数AI应用都是这个套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，这个小项目教会我们5件事：学会拆解、懂得分工、配置驱动、工程优化、安全意识。请记住最后这句话：做AI应用不是简单地把问题丢给AI，而是用工程的手段，把AI这个聪明但不完全可靠的伙伴，编排进一条你能掌控的流水线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光听不练是学不会的。给大家留了几个练习，从易到难。强烈建议从加一位新大师开始——你只要复制一个配置文件，改改名字和风格，就能看到你的大师出现在报告里，特别有成就感。改一次代码，胜过看十遍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课就到这里。整个项目已经开源，大家可以去HuggingFace上亲自体验，代码和更详细的技术文档都在项目里。希望这节课让你对AI应用到底怎么做有了具体的感觉。有任何问题欢迎现在提问或课后交流。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微软雅黑"/>
              </a:rPr>
              <a:t>🚀 Mini-U 量化分析员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用一个真实项目，讲透「AI 应用」是怎么做出来的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0">
                <a:solidFill>
                  <a:srgbClr val="FFFFFF"/>
                </a:solidFill>
                <a:latin typeface="微软雅黑"/>
              </a:rPr>
              <a:t>零基础 · AI 应用开发入门课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这节课你会学到什么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1F2937"/>
                </a:solidFill>
                <a:latin typeface="微软雅黑"/>
              </a:rPr>
              <a:t>🧩  一个 AI 应用是由哪些零件组成的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1F2937"/>
                </a:solidFill>
                <a:latin typeface="微软雅黑"/>
              </a:rPr>
              <a:t>🔗  什么是「流水线（Pipeline）」思维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1F2937"/>
                </a:solidFill>
                <a:latin typeface="微软雅黑"/>
              </a:rPr>
              <a:t>🤝  规则和大模型（AI）如何分工合作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1F2937"/>
                </a:solidFill>
                <a:latin typeface="微软雅黑"/>
              </a:rPr>
              <a:t>💰  为什么要做「缓存」省钱</a:t>
            </a: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1F2937"/>
                </a:solidFill>
                <a:latin typeface="微软雅黑"/>
              </a:rPr>
              <a:t>🛡️  真实项目里踩过的坑（最宝贵的经验）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86400"/>
            <a:ext cx="10515600" cy="96012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微软雅黑"/>
              </a:rPr>
              <a:t>不需要任何基础 —— 只要你会用电脑、听说过「ChatGPT」，就能跟上。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先看成果：它能干什么？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BE123D"/>
                </a:solidFill>
                <a:latin typeface="微软雅黑"/>
              </a:rPr>
              <a:t>你输入：一个股票代码，比如 600519（贵州茅台）</a:t>
            </a:r>
          </a:p>
          <a:p>
            <a:pPr algn="l">
              <a:spcAft>
                <a:spcPts val="1200"/>
              </a:spcAft>
            </a:pPr>
            <a:r>
              <a:rPr sz="2400" b="1">
                <a:solidFill>
                  <a:srgbClr val="1F2937"/>
                </a:solidFill>
                <a:latin typeface="微软雅黑"/>
              </a:rPr>
              <a:t>它输出：一份完整的分析报告 👇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F2937"/>
                </a:solidFill>
                <a:latin typeface="微软雅黑"/>
              </a:rPr>
              <a:t>📊  股价、涨跌、综合评分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F2937"/>
                </a:solidFill>
                <a:latin typeface="微软雅黑"/>
              </a:rPr>
              <a:t>🤖  一段 AI 写的专业分析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F2937"/>
                </a:solidFill>
                <a:latin typeface="微软雅黑"/>
              </a:rPr>
              <a:t>👥  4 位「投资大师」的不同点评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F2937"/>
                </a:solidFill>
                <a:latin typeface="微软雅黑"/>
              </a:rPr>
              <a:t>📄  一个漂亮的网页报告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86400"/>
            <a:ext cx="10515600" cy="96012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微软雅黑"/>
              </a:rPr>
              <a:t>一句话：输入代码 → 自动产出报告，全程几十秒。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预备知识：三个词，先听懂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07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词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人话解释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生活类比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大模型 / LLM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会聊天、会写文章的 AI（如 DeepSeek）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一个博学的「实习生」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程序之间打电话的「电话号码」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点外卖的下单接口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API Key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打这个电话要用的「密码」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你的外卖账号密码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486400"/>
            <a:ext cx="10515600" cy="91440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59552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微软雅黑"/>
              </a:rPr>
              <a:t>⚠️ 记住：API Key 是要花钱的密码，泄露了别人就能花你的钱！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核心思想：把大事拆成小步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微软雅黑"/>
              </a:rPr>
              <a:t>想象你要做一道菜 🍳，不会一步做完，而是：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515600" cy="2651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10058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做菜：   买菜  →  切菜  →  下锅炒  →  装盘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AI应用： 采集数据  →   AI分析   →  生成报告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          (买菜)       (炒菜)        (装盘)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12080"/>
            <a:ext cx="10515600" cy="100584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微软雅黑"/>
              </a:rPr>
              <a:t>每一步只干一件事 —— 出了问题，一眼就知道是哪一步坏了。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系统全貌：像一栋楼分层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微软雅黑"/>
              </a:rPr>
              <a:t>整个系统像一栋楼，分成四层：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515600" cy="2651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10058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┌─────────────────────────────┐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│  界面层：用户点点点的网页    │ ← 你看到的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│  功能层：单股分析 / 多股对比 │ ← 不同功能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│  流水线：采集 → 分析 → 报告  │ ← 干活核心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│  底层：  数据源 / AI / 缓存  │ ← 基础设施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└─────────────────────────────┘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12080"/>
            <a:ext cx="10515600" cy="100584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微软雅黑"/>
              </a:rPr>
              <a:t>分层的好处：换了顶楼的装修，不影响地基。改界面不用动核心逻辑。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第 1 步：采集数据 + 打分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微软雅黑"/>
              </a:rPr>
              <a:t>做两件事：① 抓行情（股价涨跌）  ② 用规则打分（满分100）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515600" cy="2651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10058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打分规则（人人都看得懂）：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  股价 &gt; 1000 元   →  加 15 分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  今天涨了         →  加 10 分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  ROE &gt; 20%        →  加 20 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12080"/>
            <a:ext cx="10515600" cy="100584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微软雅黑"/>
              </a:rPr>
              <a:t>规则写在配置文件里，改分数不用改程序 —— 运营同学也能维护。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为什么要「规则」而不全交给 AI？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070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谁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负责什么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类比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规则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算分数（精确的活）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计算器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写分析（表达的活）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作家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486400"/>
            <a:ext cx="10515600" cy="91440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59552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微软雅黑"/>
              </a:rPr>
              <a:t>AI 不擅长精确算数，还可能「一本正经地胡说」（叫幻觉）；规则算得准、能解释。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0891B2"/>
                </a:solidFill>
                <a:latin typeface="微软雅黑"/>
              </a:rPr>
              <a:t>🌟 本课最重要的一句话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让规则引擎做数学题</a:t>
            </a:r>
          </a:p>
          <a:p>
            <a:pPr algn="ctr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让大模型做作文题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937760"/>
            <a:ext cx="94183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0891B2"/>
                </a:solidFill>
                <a:latin typeface="微软雅黑"/>
              </a:rPr>
              <a:t>把精确计算交给代码，把语言表达交给 AI —— 这是做可靠 AI 应用的核心原则。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第 2 步：AI 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微软雅黑"/>
              </a:rPr>
              <a:t>把数据和分数打包，交给大模型 DeepSeek：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515600" cy="2651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10058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你是一位资深股票分析师。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这是数据：{茅台，1190元，评分65…}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请写一份 250-400 字的专业分析，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最后给出评级：强烈推荐 / 推荐 / 观望 / 回避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12080"/>
            <a:ext cx="10515600" cy="100584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微软雅黑"/>
              </a:rPr>
              <a:t>给 AI 的这段指令叫「Prompt（提示词）」—— 写好它是一门手艺。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提示词的小技巧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F2937"/>
                </a:solidFill>
                <a:latin typeface="微软雅黑"/>
              </a:rPr>
              <a:t>我们的提示词里明确要求：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✅  结构：基本面 → 风险 → 逻辑 → 建议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✅  字数：250-400 字（不能太长太短）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✅  给选项：评级只能从「强烈推荐/推荐/观望/回避」里选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86400"/>
            <a:ext cx="10515600" cy="96012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微软雅黑"/>
              </a:rPr>
              <a:t>越具体，AI 越听话。别只说「帮我分析」，要说清楚「结构、长度、格式」。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第 3 步：多位大师来点评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大师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风格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关注点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巴菲特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价值投资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护城河、安全边际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赵老哥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游资短线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板块热度、情绪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木头姐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成长创新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颠覆性、增长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陈小群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宏观策略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政策、行业周期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486400"/>
            <a:ext cx="10515600" cy="91440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59552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微软雅黑"/>
              </a:rPr>
              <a:t>每个大师就是一张「人设卡」。加新大师 = 加一张卡，不用改程序。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省钱小能手：缓存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微软雅黑"/>
              </a:rPr>
              <a:t>每次调用 AI 都要花钱、还要等几秒。同一只股票反复分析，太浪费！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515600" cy="2651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10058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有人问茅台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 → 先看「小本本」上有没有记过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    记过且没过期  →  直接念出来（不花钱！）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    没记过        →  真的问 AI，然后记到本本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12080"/>
            <a:ext cx="10515600" cy="100584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微软雅黑"/>
              </a:rPr>
              <a:t>缓存有「保质期」（本项目 6 小时）—— 因为股价会变，太旧的不能用。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🛡️ 真实事故 1：密码泄露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F2937"/>
                </a:solidFill>
                <a:latin typeface="微软雅黑"/>
              </a:rPr>
              <a:t>这个项目上线后，发现一个安全问题：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BE123D"/>
                </a:solidFill>
                <a:latin typeface="微软雅黑"/>
              </a:rPr>
              <a:t>用户 A 输入了自己的 API Key（花钱的密码），</a:t>
            </a:r>
          </a:p>
          <a:p>
            <a:pPr algn="l">
              <a:spcAft>
                <a:spcPts val="1200"/>
              </a:spcAft>
            </a:pPr>
            <a:r>
              <a:rPr sz="2300" b="1">
                <a:solidFill>
                  <a:srgbClr val="BE123D"/>
                </a:solidFill>
                <a:latin typeface="微软雅黑"/>
              </a:rPr>
              <a:t>结果用户 B 打开网页，也能用 A 的密码！= 花 A 的钱 😱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原因：程序错误地把密码存在了「所有人共享」的地方。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修复：改成「每个人一个独立小房间」，互相看不见。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86400"/>
            <a:ext cx="10515600" cy="9601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BE1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微软雅黑"/>
              </a:rPr>
              <a:t>⚠️ 敏感信息（密码、密钥）绝不能存在「大家共享」的地方。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事故 1 的教训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 b="1">
                <a:solidFill>
                  <a:srgbClr val="BE123D"/>
                </a:solidFill>
                <a:latin typeface="微软雅黑"/>
              </a:rPr>
              <a:t>敏感信息绝不能存在「大家共享」的地方。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❌  把银行卡密码写在公司公告栏 → 人人可见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✅  把密码放进自己的保险箱 → 只有你能开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86400"/>
            <a:ext cx="10515600" cy="96012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微软雅黑"/>
              </a:rPr>
              <a:t>做多用户的网站，一定要问自己：「这个数据，别的用户会不会看到？」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🛡️ 真实事故 2：神秘崩溃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1F2937"/>
                </a:solidFill>
                <a:latin typeface="微软雅黑"/>
              </a:rPr>
              <a:t>现象：同一份代码——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在服务器上（Linux）✅ 正常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在电脑命令行 ✅ 正常</a:t>
            </a:r>
          </a:p>
          <a:p>
            <a:pPr algn="l">
              <a:spcAft>
                <a:spcPts val="1200"/>
              </a:spcAft>
            </a:pPr>
            <a:r>
              <a:rPr sz="2300" b="1">
                <a:solidFill>
                  <a:srgbClr val="BE123D"/>
                </a:solidFill>
                <a:latin typeface="微软雅黑"/>
              </a:rPr>
              <a:t>但用网页跑 ❌ 直接崩溃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F2937"/>
                </a:solidFill>
                <a:latin typeface="微软雅黑"/>
              </a:rPr>
              <a:t>最后定位：某个底层组件在特定环境下不兼容 → 加「演示模式」绕过。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86400"/>
            <a:ext cx="10515600" cy="96012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微软雅黑"/>
              </a:rPr>
              <a:t>排查思路：对比找不同（系统？运行方式？），把可疑部分单独拎出来测。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事故 2 的教训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 b="1">
                <a:solidFill>
                  <a:srgbClr val="BE123D"/>
                </a:solidFill>
                <a:latin typeface="微软雅黑"/>
              </a:rPr>
              <a:t>「在我电脑上好好的呀」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64748B"/>
                </a:solidFill>
                <a:latin typeface="微软雅黑"/>
              </a:rPr>
              <a:t>—— 程序员最常说、也最坑的一句话。</a:t>
            </a:r>
          </a:p>
          <a:p>
            <a:pPr algn="l">
              <a:spcAft>
                <a:spcPts val="12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同样代码换个环境就可能出问题，因为环境有差异：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F2937"/>
                </a:solidFill>
                <a:latin typeface="微软雅黑"/>
              </a:rPr>
              <a:t>• 操作系统不同（Windows / Mac / Linux）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F2937"/>
                </a:solidFill>
                <a:latin typeface="微软雅黑"/>
              </a:rPr>
              <a:t>• 软件版本不同 · 运行方式不同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86400"/>
            <a:ext cx="10515600" cy="96012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微软雅黑"/>
              </a:rPr>
              <a:t>出 bug 别慌：对比环境差异 + 逐步缩小范围。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🛡️ 真实事故 3 &amp; 4：小疏忽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1">
                <a:solidFill>
                  <a:srgbClr val="BE123D"/>
                </a:solidFill>
                <a:latin typeface="微软雅黑"/>
              </a:rPr>
              <a:t>事故 3：忘了声明依赖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F2937"/>
                </a:solidFill>
                <a:latin typeface="微软雅黑"/>
              </a:rPr>
              <a:t>程序用到一个工具包，却忘了写进「购物清单」。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0891B2"/>
                </a:solidFill>
                <a:latin typeface="微软雅黑"/>
              </a:rPr>
              <a:t>👉 教训：程序需要什么，必须明明白白列出来。</a:t>
            </a:r>
          </a:p>
          <a:p>
            <a:pPr algn="l">
              <a:spcAft>
                <a:spcPts val="1200"/>
              </a:spcAft>
            </a:pPr>
            <a:r>
              <a:rPr sz="10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2400" b="1">
                <a:solidFill>
                  <a:srgbClr val="BE123D"/>
                </a:solidFill>
                <a:latin typeface="微软雅黑"/>
              </a:rPr>
              <a:t>事故 4：把巨大的临时文件传上去了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1F2937"/>
                </a:solidFill>
                <a:latin typeface="微软雅黑"/>
              </a:rPr>
              <a:t>一不小心把几百 MB 临时文件提交到了代码仓库。</a:t>
            </a: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0891B2"/>
                </a:solidFill>
                <a:latin typeface="微软雅黑"/>
              </a:rPr>
              <a:t>👉 教训：临时文件、密钥文件不该进仓库，要写进「黑名单」。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复盘：一次完整的分析之旅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10515600" cy="26517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输入「600519」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 ① 采集：抓行情 + 规则打分 → 65分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 ② AI分析：把数据交给 DeepSeek → 写出报告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 ③ 多角色：4位大师分别点评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 ④ 生成漂亮的网页报告 + 保存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9CDCFE"/>
                </a:solidFill>
                <a:latin typeface="Consolas"/>
              </a:rPr>
              <a:t>  ✅ 你看到完整报告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12080"/>
            <a:ext cx="10515600" cy="100584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微软雅黑"/>
              </a:rPr>
              <a:t>数据的旅程：数字 → 文字 → 网页。几乎所有 AI 应用都是这个套路。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总结：Mini-U 教会我们 5 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🧩  拆解 —— 把复杂任务拆成流水线的小步骤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🤝  分工 —— 规则做数学题，AI 做作文题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⚙️  配置驱动 —— 规则/角色/提示词外置，改配置不改代码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💰  工程优化 —— 缓存省钱、出错兜底</a:t>
            </a: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1F2937"/>
                </a:solidFill>
                <a:latin typeface="微软雅黑"/>
              </a:rPr>
              <a:t>🛡️  安全意识 —— 密钥隔离、环境差异、别踩坑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86400"/>
            <a:ext cx="10515600" cy="96012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1F2937"/>
                </a:solidFill>
                <a:latin typeface="微软雅黑"/>
              </a:rPr>
              <a:t>AI 应用 ≠ 把问题丢给 AI，而是用工程手段把 AI 编排进一条可控的流水线。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1E3A8A"/>
                </a:solidFill>
                <a:latin typeface="微软雅黑"/>
              </a:rPr>
              <a:t>课后动手练习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73736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难度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</a:rPr>
                        <a:t>任务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加一位新的投资大师（改一个配置文件）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在规则里加一条新的加分项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⭐⭐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把报告加一张评分图表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891B2"/>
                          </a:solidFill>
                          <a:latin typeface="微软雅黑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F2937"/>
                          </a:solidFill>
                          <a:latin typeface="微软雅黑"/>
                        </a:rPr>
                        <a:t>把 DeepSeek 换成另一个大模型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486400"/>
            <a:ext cx="10515600" cy="91440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559552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微软雅黑"/>
              </a:rPr>
              <a:t>动手改一次，胜过看十遍。从加一位大师开始，最简单也最有成就感。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微软雅黑"/>
              </a:rPr>
              <a:t>🎉 谢谢大家！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0">
                <a:solidFill>
                  <a:srgbClr val="0891B2"/>
                </a:solidFill>
                <a:latin typeface="微软雅黑"/>
              </a:rPr>
              <a:t>项目已开源 · 在线体验：HuggingFace Space  dayahs/mini-u</a:t>
            </a:r>
          </a:p>
          <a:p>
            <a:pPr algn="ctr">
              <a:spcAft>
                <a:spcPts val="800"/>
              </a:spcAft>
            </a:pPr>
            <a:r>
              <a:rPr sz="2200" b="0">
                <a:solidFill>
                  <a:srgbClr val="0891B2"/>
                </a:solidFill>
                <a:latin typeface="微软雅黑"/>
              </a:rPr>
              <a:t>完整技术文档：见项目 TECH_OVERVIEW.md</a:t>
            </a:r>
          </a:p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有问题？欢迎提问 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